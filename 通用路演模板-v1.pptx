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8d1902a887b434c" /><Relationship Type="http://schemas.openxmlformats.org/officeDocument/2006/relationships/extended-properties" Target="/docProps/app.xml" Id="R9eb3f8d5271d4ad2" /><Relationship Type="http://schemas.openxmlformats.org/officeDocument/2006/relationships/officeDocument" Target="/ppt/presentation.xml" Id="R77890689509f4a7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c44d6dc19574f83"/>
  </p:sldMasterIdLst>
  <p:notesMasterIdLst>
    <p:notesMasterId xmlns:r="http://schemas.openxmlformats.org/officeDocument/2006/relationships" r:id="R9230796ea9704442"/>
  </p:notesMasterIdLst>
  <p:sldIdLst>
    <p:sldId xmlns:r="http://schemas.openxmlformats.org/officeDocument/2006/relationships" id="256" r:id="R8785ab5b536d4ca8"/>
    <p:sldId xmlns:r="http://schemas.openxmlformats.org/officeDocument/2006/relationships" id="257" r:id="R4f79f20c01774350"/>
    <p:sldId xmlns:r="http://schemas.openxmlformats.org/officeDocument/2006/relationships" id="258" r:id="R01556899fbc340fa"/>
    <p:sldId xmlns:r="http://schemas.openxmlformats.org/officeDocument/2006/relationships" id="259" r:id="R36a5f409ffc244d0"/>
    <p:sldId xmlns:r="http://schemas.openxmlformats.org/officeDocument/2006/relationships" id="260" r:id="R321f3537c0ce4f39"/>
    <p:sldId xmlns:r="http://schemas.openxmlformats.org/officeDocument/2006/relationships" id="261" r:id="Rd1fb5976de19476e"/>
    <p:sldId xmlns:r="http://schemas.openxmlformats.org/officeDocument/2006/relationships" id="262" r:id="Rba44095b4d2e411a"/>
    <p:sldId xmlns:r="http://schemas.openxmlformats.org/officeDocument/2006/relationships" id="263" r:id="Re0914c469e1f498e"/>
    <p:sldId xmlns:r="http://schemas.openxmlformats.org/officeDocument/2006/relationships" id="264" r:id="R1237bcef21c540c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46d6da5d72e4db4" /><Relationship Type="http://schemas.openxmlformats.org/officeDocument/2006/relationships/slideMaster" Target="/ppt/slideMasters/slideMaster1.xml" Id="Rfc44d6dc19574f83" /><Relationship Type="http://schemas.openxmlformats.org/officeDocument/2006/relationships/notesMaster" Target="/ppt/notesMasters/notesMaster1.xml" Id="R9230796ea9704442" /><Relationship Type="http://schemas.openxmlformats.org/officeDocument/2006/relationships/presProps" Target="/ppt/presProps.xml" Id="Rf4cde07ef85a44bb" /><Relationship Type="http://schemas.openxmlformats.org/officeDocument/2006/relationships/tableStyles" Target="/ppt/tableStyles.xml" Id="Rca05e1f3eade4a22" /><Relationship Type="http://schemas.openxmlformats.org/officeDocument/2006/relationships/slide" Target="/ppt/slides/slide1.xml" Id="R8785ab5b536d4ca8" /><Relationship Type="http://schemas.openxmlformats.org/officeDocument/2006/relationships/slide" Target="/ppt/slides/slide2.xml" Id="R4f79f20c01774350" /><Relationship Type="http://schemas.openxmlformats.org/officeDocument/2006/relationships/slide" Target="/ppt/slides/slide3.xml" Id="R01556899fbc340fa" /><Relationship Type="http://schemas.openxmlformats.org/officeDocument/2006/relationships/slide" Target="/ppt/slides/slide4.xml" Id="R36a5f409ffc244d0" /><Relationship Type="http://schemas.openxmlformats.org/officeDocument/2006/relationships/slide" Target="/ppt/slides/slide5.xml" Id="R321f3537c0ce4f39" /><Relationship Type="http://schemas.openxmlformats.org/officeDocument/2006/relationships/slide" Target="/ppt/slides/slide6.xml" Id="Rd1fb5976de19476e" /><Relationship Type="http://schemas.openxmlformats.org/officeDocument/2006/relationships/slide" Target="/ppt/slides/slide7.xml" Id="Rba44095b4d2e411a" /><Relationship Type="http://schemas.openxmlformats.org/officeDocument/2006/relationships/slide" Target="/ppt/slides/slide8.xml" Id="Re0914c469e1f498e" /><Relationship Type="http://schemas.openxmlformats.org/officeDocument/2006/relationships/slide" Target="/ppt/slides/slide9.xml" Id="R1237bcef21c540c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89b97c121754d5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0233a76c3b64934" /><Relationship Type="http://schemas.openxmlformats.org/officeDocument/2006/relationships/notesMaster" Target="/ppt/notesMasters/notesMaster1.xml" Id="Rc2e5d47867834d0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6b2680ff23f4ba4" /><Relationship Type="http://schemas.openxmlformats.org/officeDocument/2006/relationships/notesMaster" Target="/ppt/notesMasters/notesMaster1.xml" Id="R2c0185f1014045b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e6e47a23bfe46ec" /><Relationship Type="http://schemas.openxmlformats.org/officeDocument/2006/relationships/notesMaster" Target="/ppt/notesMasters/notesMaster1.xml" Id="Rf8d505f741cd4ff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6c7cfb6e8e94419" /><Relationship Type="http://schemas.openxmlformats.org/officeDocument/2006/relationships/notesMaster" Target="/ppt/notesMasters/notesMaster1.xml" Id="R978738b3de94434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ce99e03ce154b75" /><Relationship Type="http://schemas.openxmlformats.org/officeDocument/2006/relationships/notesMaster" Target="/ppt/notesMasters/notesMaster1.xml" Id="R9a4dd5344f32453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d8435f10d504acf" /><Relationship Type="http://schemas.openxmlformats.org/officeDocument/2006/relationships/notesMaster" Target="/ppt/notesMasters/notesMaster1.xml" Id="R7dfa34459fef4d4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7a5f42401ef4fd7" /><Relationship Type="http://schemas.openxmlformats.org/officeDocument/2006/relationships/notesMaster" Target="/ppt/notesMasters/notesMaster1.xml" Id="Rba87d92d320544f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8389fdd117f429f" /><Relationship Type="http://schemas.openxmlformats.org/officeDocument/2006/relationships/notesMaster" Target="/ppt/notesMasters/notesMaster1.xml" Id="Reab8b8d4eccf4a8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8bc434cb3aa4e3a" /><Relationship Type="http://schemas.openxmlformats.org/officeDocument/2006/relationships/notesMaster" Target="/ppt/notesMasters/notesMaster1.xml" Id="Rc1e991bc01ea4c8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建议时长：15 秒</a:t>
            </a:r>
          </a:p>
          <a:p xmlns:a="http://schemas.openxmlformats.org/drawingml/2006/main">
            <a:r>
              <a:t>讲稿：我们是 [队伍名称]。我是 [姓名]，负责 [角色]。今天带来 [项目名称]。</a:t>
            </a:r>
          </a:p>
          <a:p xmlns:a="http://schemas.openxmlformats.org/drawingml/2006/main">
            <a:r>
              <a:t>替换项：项目名、一句话标签、成员角色。</a:t>
            </a:r>
          </a:p>
          <a:p xmlns:a="http://schemas.openxmlformats.org/drawingml/2006/main">
            <a:r>
              <a:t>不要逐个介绍背景，先让评委记住项目。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建议时长：20 秒</a:t>
            </a:r>
          </a:p>
          <a:p xmlns:a="http://schemas.openxmlformats.org/drawingml/2006/main">
            <a:r>
              <a:t>讲稿：一句话读完即可。随后用一个短例子说明用户、场景和结果。</a:t>
            </a:r>
          </a:p>
          <a:p xmlns:a="http://schemas.openxmlformats.org/drawingml/2006/main">
            <a:r>
              <a:t>检查：不要出现泛泛的“平台”“赋能”“智能化”。必须能回答给谁用、做什么、带来什么结果。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建议时长：40 秒</a:t>
            </a:r>
          </a:p>
          <a:p xmlns:a="http://schemas.openxmlformats.org/drawingml/2006/main">
            <a:r>
              <a:t>讲稿顺序：从一个观察或愿望开始，再说明它为什么与本次赛题匹配。</a:t>
            </a:r>
          </a:p>
          <a:p xmlns:a="http://schemas.openxmlformats.org/drawingml/2006/main">
            <a:r>
              <a:t>替换项：具体情境、阻碍、赛道关键词、项目与题目的连接。</a:t>
            </a:r>
          </a:p>
          <a:p xmlns:a="http://schemas.openxmlformats.org/drawingml/2006/main">
            <a:r>
              <a:t>不要堆市场规模或泛泛痛点。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建议时长：40 秒</a:t>
            </a:r>
          </a:p>
          <a:p xmlns:a="http://schemas.openxmlformats.org/drawingml/2006/main">
            <a:r>
              <a:t>讲稿：先说用户原来的阻碍，再讲我们在流程中做了什么，最后落到可以看见的变化。</a:t>
            </a:r>
          </a:p>
          <a:p xmlns:a="http://schemas.openxmlformats.org/drawingml/2006/main">
            <a:r>
              <a:t>替换项：每一格最多两行，避免把所有功能塞进来。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建议时长：90 秒</a:t>
            </a:r>
          </a:p>
          <a:p xmlns:a="http://schemas.openxmlformats.org/drawingml/2006/main">
            <a:r>
              <a:t>讲稿：只演示一条关键用户旅程。先预告结果，再做输入、核心动作和结果。</a:t>
            </a:r>
          </a:p>
          <a:p xmlns:a="http://schemas.openxmlformats.org/drawingml/2006/main">
            <a:r>
              <a:t>备份：准备本地录屏、测试账号、固定数据和降级方案。</a:t>
            </a:r>
          </a:p>
          <a:p xmlns:a="http://schemas.openxmlformats.org/drawingml/2006/main">
            <a:r>
              <a:t>来源：Devpost 指南强调评委重点关注需求完成度、Demo 或视频及叙事。https://info.devpost.com/complete-guide-to-hackathon-judging</a:t>
            </a:r>
          </a:p>
          <a:p xmlns:a="http://schemas.openxmlformats.org/drawingml/2006/main">
            <a:r>
              <a:t>来源：Devpost Raylu 规则说明现场 Demo 与备用视频的准备。https://raylu.devpost.com/rules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建议时长：40 秒</a:t>
            </a:r>
          </a:p>
          <a:p xmlns:a="http://schemas.openxmlformats.org/drawingml/2006/main">
            <a:r>
              <a:t>讲稿：解释输入、核心逻辑和结果如何连成一体。只挑关键技术和约束。</a:t>
            </a:r>
          </a:p>
          <a:p xmlns:a="http://schemas.openxmlformats.org/drawingml/2006/main">
            <a:r>
              <a:t>替换项：数据来源、模型或 API、真正实现的部分。</a:t>
            </a:r>
          </a:p>
          <a:p xmlns:a="http://schemas.openxmlformats.org/drawingml/2006/main">
            <a:r>
              <a:t>不要罗列所有依赖或代码量。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建议时长：25 秒</a:t>
            </a:r>
          </a:p>
          <a:p xmlns:a="http://schemas.openxmlformats.org/drawingml/2006/main">
            <a:r>
              <a:t>讲稿：今天我们已经证明 [核心证据]。下一步，我们要与 [用户] 验证 [指标]。最后用一句有方向感的话收尾。</a:t>
            </a:r>
          </a:p>
          <a:p xmlns:a="http://schemas.openxmlformats.org/drawingml/2006/main">
            <a:r>
              <a:t>来源：Devpost 的评分与建议反复强调完成度、Demo、影响力与问答的平衡。https://info.devpost.com/complete-guide-to-hackathon-judging</a:t>
            </a:r>
          </a:p>
          <a:p xmlns:a="http://schemas.openxmlformats.org/drawingml/2006/main">
            <a:r>
              <a:t>不要把“未来展望”写成无依据的宏大承诺。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备用页，不主动播放。</a:t>
            </a:r>
          </a:p>
          <a:p xmlns:a="http://schemas.openxmlformats.org/drawingml/2006/main">
            <a:r>
              <a:t>准备：每个组件都要能回答“为什么需要它”“最小替代方案是什么”“它在 Demo 里是否真实运行”。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备用页，不主动播放。</a:t>
            </a:r>
          </a:p>
          <a:p xmlns:a="http://schemas.openxmlformats.org/drawingml/2006/main">
            <a:r>
              <a:t>当评委问到安全、可信度、边界或未来验证时，直接用本页回答。用诚实的边界换取可信度。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2d1e815c5e345e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9b2a5cd35b242b4" /><Relationship Type="http://schemas.openxmlformats.org/officeDocument/2006/relationships/slideLayout" Target="/ppt/slideLayouts/slideLayout1.xml" Id="Rbbe326dbb7c544a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be326dbb7c544a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db907962864022" /><Relationship Type="http://schemas.openxmlformats.org/officeDocument/2006/relationships/image" Target="/ppt/media/image.png" Id="R9f2f290e47454799" /><Relationship Type="http://schemas.openxmlformats.org/officeDocument/2006/relationships/notesSlide" Target="/ppt/notesSlides/notesSlide1.xml" Id="Re4a6a59db73b479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59397647e044b3" /><Relationship Type="http://schemas.openxmlformats.org/officeDocument/2006/relationships/notesSlide" Target="/ppt/notesSlides/notesSlide2.xml" Id="R1a8568d046804ac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e7f3f4860e41d4" /><Relationship Type="http://schemas.openxmlformats.org/officeDocument/2006/relationships/notesSlide" Target="/ppt/notesSlides/notesSlide3.xml" Id="Ra42725fec07b428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5cd02452df4eaf" /><Relationship Type="http://schemas.openxmlformats.org/officeDocument/2006/relationships/notesSlide" Target="/ppt/notesSlides/notesSlide4.xml" Id="Rb72ea26af036489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fb700cff654d4b" /><Relationship Type="http://schemas.openxmlformats.org/officeDocument/2006/relationships/notesSlide" Target="/ppt/notesSlides/notesSlide5.xml" Id="R30405b9f6e1f4d7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174a049a244bb2" /><Relationship Type="http://schemas.openxmlformats.org/officeDocument/2006/relationships/notesSlide" Target="/ppt/notesSlides/notesSlide6.xml" Id="R921f4da06328431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987ab4d5e94d38" /><Relationship Type="http://schemas.openxmlformats.org/officeDocument/2006/relationships/notesSlide" Target="/ppt/notesSlides/notesSlide7.xml" Id="R55f9c44ed6234d8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1e48ced73b4a2b" /><Relationship Type="http://schemas.openxmlformats.org/officeDocument/2006/relationships/notesSlide" Target="/ppt/notesSlides/notesSlide8.xml" Id="Rd6f0862a316e454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3f91682ac94a4d" /><Relationship Type="http://schemas.openxmlformats.org/officeDocument/2006/relationships/notesSlide" Target="/ppt/notesSlides/notesSlide9.xml" Id="R4c1e88696dc9462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A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2f290e47454799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129A30-3979-42B4-8111-FA4F23A9C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239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35">
              <a:alpha val="83000"/>
            </a:srgbClr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922F94-502E-44D9-A78E-B92AE6B5F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239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0C4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20C4E8"/>
                </a:solidFill>
                <a:latin typeface="Helvetica Neue"/>
                <a:ea typeface="Helvetica Neue"/>
                <a:cs typeface="Helvetica Neue"/>
              </a:rPr>
              <a:t>HACKATHON PITCH TEMPLATE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D7168D-5D4A-4838-B9AC-C15AD1E10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33500"/>
            <a:ext cx="5905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7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[项目名称]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9DF27D-0E8D-433C-A5F8-9B3099AED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66950"/>
            <a:ext cx="542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D7E4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D7E4FF"/>
                </a:solidFill>
                <a:latin typeface="Helvetica Neue"/>
                <a:ea typeface="Helvetica Neue"/>
                <a:cs typeface="Helvetica Neue"/>
              </a:rPr>
              <a:t>[一句话项目标签  例如：让现场决策从混乱变得可验证]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770D56-AFCA-4DCA-9495-B58B54B0D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24200"/>
            <a:ext cx="3810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C4E8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FD9DBC-2235-4E1B-A8A2-86AAF2442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24250"/>
            <a:ext cx="428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926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[队伍名称]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901967-C0E3-4FEC-B297-B5D2B549C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86200"/>
            <a:ext cx="581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D7E4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>
                <a:solidFill>
                  <a:srgbClr val="D7E4FF"/>
                </a:solidFill>
                <a:latin typeface="Helvetica Neue"/>
                <a:ea typeface="Helvetica Neue"/>
                <a:cs typeface="Helvetica Neue"/>
              </a:rPr>
              <a:t>[成员 A：产品与叙事]    [成员 B：技术实现]    [成员 C：设计与演示]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3CF3C7-4DAE-46E0-8E1B-4236DC7E9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62500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i="1">
                <a:solidFill>
                  <a:srgbClr val="B9C8E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i="1">
                <a:solidFill>
                  <a:srgbClr val="B9C8E7"/>
                </a:solidFill>
                <a:latin typeface="Helvetica Neue"/>
                <a:ea typeface="Helvetica Neue"/>
                <a:cs typeface="Helvetica Neue"/>
              </a:rPr>
              <a:t>封面兼团队介绍。只说角色和分工，不讲个人履历。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130498-69EF-4D65-B749-C71621AEE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438900"/>
            <a:ext cx="1095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B9C8E7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>
                <a:solidFill>
                  <a:srgbClr val="B9C8E7"/>
                </a:solidFill>
                <a:latin typeface="Helvetica Neue"/>
                <a:ea typeface="Helvetica Neue"/>
                <a:cs typeface="Helvetica Neue"/>
              </a:rPr>
              <a:t>01  /  09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2F763F-E5C0-4988-BFB0-3A49C17B1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6438900"/>
            <a:ext cx="219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B9C8E7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>
                <a:solidFill>
                  <a:srgbClr val="B9C8E7"/>
                </a:solidFill>
                <a:latin typeface="Helvetica Neue"/>
                <a:ea typeface="Helvetica Neue"/>
                <a:cs typeface="Helvetica Neue"/>
              </a:rPr>
              <a:t>开场  15 秒</a:t>
            </a:r>
          </a:p>
        </p:txBody>
      </p:sp>
    </p:spTree>
    <p:extLst>
      <p:ext uri="{BB962C8B-B14F-4D97-AF65-F5344CB8AC3E}">
        <p14:creationId xmlns:p14="http://schemas.microsoft.com/office/powerpoint/2010/main" val="50290798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505BA02-9DB2-4BA6-89EF-40D7ACB17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3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046B80-5C0F-476C-8C90-FCBC4A2F7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0"/>
            <a:ext cx="381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C4E8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D02D7C-D110-4720-A1F8-3EC960116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53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E63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2E63FF"/>
                </a:solidFill>
                <a:latin typeface="Helvetica Neue"/>
                <a:ea typeface="Helvetica Neue"/>
                <a:cs typeface="Helvetica Neue"/>
              </a:rPr>
              <a:t>01 / WHAT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CED3C8-609B-46A0-B1D8-BD03C97BB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0287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124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12442"/>
                </a:solidFill>
                <a:latin typeface="Helvetica Neue"/>
                <a:ea typeface="Helvetica Neue"/>
                <a:cs typeface="Helvetica Neue"/>
              </a:rPr>
              <a:t>我们做了什么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655690-6C47-4FBF-831B-B9204AD44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04950"/>
            <a:ext cx="990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C6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>
                <a:solidFill>
                  <a:srgbClr val="5C6B82"/>
                </a:solidFill>
                <a:latin typeface="Helvetica Neue"/>
                <a:ea typeface="Helvetica Neue"/>
                <a:cs typeface="Helvetica Neue"/>
              </a:rPr>
              <a:t>用一句话说清项目、用户和可见结果。 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184AF6-5094-4020-9667-A7361EF66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38350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0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C987FA-4E5C-4038-AA9C-402D3D0B0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43200"/>
            <a:ext cx="981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124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112442"/>
                </a:solidFill>
                <a:latin typeface="Helvetica Neue"/>
                <a:ea typeface="Helvetica Neue"/>
                <a:cs typeface="Helvetica Neue"/>
              </a:rPr>
              <a:t>我们为 [目标用户] 提供 [产品或能力]，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A39474-BE86-466B-8F99-B3567E2E9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90900"/>
            <a:ext cx="981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2E63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2E63FF"/>
                </a:solidFill>
                <a:latin typeface="Helvetica Neue"/>
                <a:ea typeface="Helvetica Neue"/>
                <a:cs typeface="Helvetica Neue"/>
              </a:rPr>
              <a:t>帮助他们在 [关键场景] 中获得 [关键结果]。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AD68B2-6BAE-4F29-9957-C2818FDD7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362450"/>
            <a:ext cx="9048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0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BE9FF0-2015-4263-8098-6C2C11608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7434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F3FC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2B51FB-66C6-4F4B-B9CC-552E9CEFE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8006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3846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E63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2E63FF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B4830D-4030-4B24-9029-88A22E320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743450"/>
            <a:ext cx="2381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792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124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12442"/>
                </a:solidFill>
                <a:latin typeface="Helvetica Neue"/>
                <a:ea typeface="Helvetica Neue"/>
                <a:cs typeface="Helvetica Neue"/>
              </a:rPr>
              <a:t>用户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5F3769-6807-4FCB-89EA-14AA893A2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010150"/>
            <a:ext cx="2428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C6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>
                <a:solidFill>
                  <a:srgbClr val="5C6B82"/>
                </a:solidFill>
                <a:latin typeface="Helvetica Neue"/>
                <a:ea typeface="Helvetica Neue"/>
                <a:cs typeface="Helvetica Neue"/>
              </a:rPr>
              <a:t>谁会真的使用它？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A6022E-8EAB-4D8D-AA4F-3C0DF80D4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47434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F3FC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143827-516F-48FF-83A5-F4739DA91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48006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3846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E63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2E63FF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5E8CF2-0DE3-4B86-96D0-E9DC9E44B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4743450"/>
            <a:ext cx="2381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792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124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12442"/>
                </a:solidFill>
                <a:latin typeface="Helvetica Neue"/>
                <a:ea typeface="Helvetica Neue"/>
                <a:cs typeface="Helvetica Neue"/>
              </a:rPr>
              <a:t>场景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BF300DB-EF29-4CE4-874B-DF4726BEE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5010150"/>
            <a:ext cx="2428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C6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>
                <a:solidFill>
                  <a:srgbClr val="5C6B82"/>
                </a:solidFill>
                <a:latin typeface="Helvetica Neue"/>
                <a:ea typeface="Helvetica Neue"/>
                <a:cs typeface="Helvetica Neue"/>
              </a:rPr>
              <a:t>他们在什么时刻需要它？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354E70F-9A7D-4EF9-8C1D-E91C33822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7434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F3FC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E422DAB-E5D4-42B7-9583-54EAE66FE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8006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3846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E63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2E63FF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5C656C7-4D09-4B72-8676-CD69D9562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743450"/>
            <a:ext cx="2381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792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124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12442"/>
                </a:solidFill>
                <a:latin typeface="Helvetica Neue"/>
                <a:ea typeface="Helvetica Neue"/>
                <a:cs typeface="Helvetica Neue"/>
              </a:rPr>
              <a:t>结果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26EA330-EB1E-4CA7-A763-927E37155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5010150"/>
            <a:ext cx="2428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C6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>
                <a:solidFill>
                  <a:srgbClr val="5C6B82"/>
                </a:solidFill>
                <a:latin typeface="Helvetica Neue"/>
                <a:ea typeface="Helvetica Neue"/>
                <a:cs typeface="Helvetica Neue"/>
              </a:rPr>
              <a:t>使用后能看见什么变化？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795B876-B5CA-456D-847A-5265FB9DB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438900"/>
            <a:ext cx="1095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8B99AD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>
                <a:solidFill>
                  <a:srgbClr val="8B99AD"/>
                </a:solidFill>
                <a:latin typeface="Helvetica Neue"/>
                <a:ea typeface="Helvetica Neue"/>
                <a:cs typeface="Helvetica Neue"/>
              </a:rPr>
              <a:t>02  /  09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5F2922E-6BD2-4D93-8562-4E63A1121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6438900"/>
            <a:ext cx="219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8B99AD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>
                <a:solidFill>
                  <a:srgbClr val="8B99AD"/>
                </a:solidFill>
                <a:latin typeface="Helvetica Neue"/>
                <a:ea typeface="Helvetica Neue"/>
                <a:cs typeface="Helvetica Neue"/>
              </a:rPr>
              <a:t>项目定义  20 秒</a:t>
            </a:r>
          </a:p>
        </p:txBody>
      </p:sp>
    </p:spTree>
    <p:extLst>
      <p:ext uri="{BB962C8B-B14F-4D97-AF65-F5344CB8AC3E}">
        <p14:creationId xmlns:p14="http://schemas.microsoft.com/office/powerpoint/2010/main" val="130533596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8E7613-9942-470D-AFF3-F138C4D3E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3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7ED668-3E62-4127-BAD2-E77A2AF1D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0"/>
            <a:ext cx="381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C4E8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91A6BD-E2C7-4759-B3F6-553A9D6D6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53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E63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2E63FF"/>
                </a:solidFill>
                <a:latin typeface="Helvetica Neue"/>
                <a:ea typeface="Helvetica Neue"/>
                <a:cs typeface="Helvetica Neue"/>
              </a:rPr>
              <a:t>02 / WHY NOW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6703BB-EAF4-4C66-BF0B-3188FBF47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0287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124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12442"/>
                </a:solidFill>
                <a:latin typeface="Helvetica Neue"/>
                <a:ea typeface="Helvetica Neue"/>
                <a:cs typeface="Helvetica Neue"/>
              </a:rPr>
              <a:t>项目起点与赛题切入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E26F8C-6BCD-4C82-A5FE-E38193AA1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04950"/>
            <a:ext cx="990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C6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>
                <a:solidFill>
                  <a:srgbClr val="5C6B82"/>
                </a:solidFill>
                <a:latin typeface="Helvetica Neue"/>
                <a:ea typeface="Helvetica Neue"/>
                <a:cs typeface="Helvetica Neue"/>
              </a:rPr>
              <a:t>“发心”可以来自观察、经验、技术灵感或愿望。关键是让它和赛题形成必然关系。 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83F15D-519E-4439-A719-B6A9722FF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38350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0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5ED53E-C934-4BE9-929D-4B5EBB79A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2890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124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12442"/>
                </a:solidFill>
                <a:latin typeface="Helvetica Neue"/>
                <a:ea typeface="Helvetica Neue"/>
                <a:cs typeface="Helvetica Neue"/>
              </a:rPr>
              <a:t>[我们观察到或相信的一件事]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405FE8-2991-4D97-8232-368CB65C6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57550"/>
            <a:ext cx="5143500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C6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5C6B82"/>
                </a:solidFill>
                <a:latin typeface="Helvetica Neue"/>
                <a:ea typeface="Helvetica Neue"/>
                <a:cs typeface="Helvetica Neue"/>
              </a:rPr>
              <a:t>例如：当 [用户] 在 [情境] 里需要 [目标] 时，现有方式会让他们陷入 [具体阻碍]。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5C6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5C6B82"/>
                </a:solidFill>
                <a:latin typeface="Helvetica Neue"/>
                <a:ea typeface="Helvetica Neue"/>
                <a:cs typeface="Helvetica Neue"/>
              </a:rPr>
              <a:t>也可以替换为：一次亲身经历、一项新技术带来的可能性，或我们想推动的长期改变。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BC2240-15C0-4D0E-99CA-83236EAF3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457450"/>
            <a:ext cx="9525" cy="2819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0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B53D0A-727B-43FD-AE8E-11348828D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628900"/>
            <a:ext cx="3429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833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E63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2E63FF"/>
                </a:solidFill>
                <a:latin typeface="Helvetica Neue"/>
                <a:ea typeface="Helvetica Neue"/>
                <a:cs typeface="Helvetica Neue"/>
              </a:rPr>
              <a:t>为什么这件事值得在本赛题中做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607B47-7C6D-4858-9595-AC96A9D17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181350"/>
            <a:ext cx="3476625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124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112442"/>
                </a:solidFill>
                <a:latin typeface="Helvetica Neue"/>
                <a:ea typeface="Helvetica Neue"/>
                <a:cs typeface="Helvetica Neue"/>
              </a:rPr>
              <a:t>[赛道关键词] 与 [项目能力] 的交集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350">
                <a:solidFill>
                  <a:srgbClr val="1124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112442"/>
                </a:solidFill>
                <a:latin typeface="Helvetica Neue"/>
                <a:ea typeface="Helvetica Neue"/>
                <a:cs typeface="Helvetica Neue"/>
              </a:rPr>
              <a:t>[本项目如何回应题目要求]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350">
                <a:solidFill>
                  <a:srgbClr val="1124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112442"/>
                </a:solidFill>
                <a:latin typeface="Helvetica Neue"/>
                <a:ea typeface="Helvetica Neue"/>
                <a:cs typeface="Helvetica Neue"/>
              </a:rPr>
              <a:t>[为什么此时此刻适合做]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CFEDBA-5C5C-4B47-A0A1-9E2313031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657850"/>
            <a:ext cx="876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i="1">
                <a:solidFill>
                  <a:srgbClr val="8B99A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i="1">
                <a:solidFill>
                  <a:srgbClr val="8B99AD"/>
                </a:solidFill>
                <a:latin typeface="Helvetica Neue"/>
                <a:ea typeface="Helvetica Neue"/>
                <a:cs typeface="Helvetica Neue"/>
              </a:rPr>
              <a:t>不要把这一页写成市场报告。用一件具体的事，把“为什么做”讲得可信。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089EEA-9CA1-4814-9073-B3CEBA4AB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438900"/>
            <a:ext cx="1095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8B99AD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>
                <a:solidFill>
                  <a:srgbClr val="8B99AD"/>
                </a:solidFill>
                <a:latin typeface="Helvetica Neue"/>
                <a:ea typeface="Helvetica Neue"/>
                <a:cs typeface="Helvetica Neue"/>
              </a:rPr>
              <a:t>03  /  09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CB8B12-AC97-4DD2-9B5C-202F09013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6438900"/>
            <a:ext cx="219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8B99AD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>
                <a:solidFill>
                  <a:srgbClr val="8B99AD"/>
                </a:solidFill>
                <a:latin typeface="Helvetica Neue"/>
                <a:ea typeface="Helvetica Neue"/>
                <a:cs typeface="Helvetica Neue"/>
              </a:rPr>
              <a:t>动机与契合  40 秒</a:t>
            </a:r>
          </a:p>
        </p:txBody>
      </p:sp>
    </p:spTree>
    <p:extLst>
      <p:ext uri="{BB962C8B-B14F-4D97-AF65-F5344CB8AC3E}">
        <p14:creationId xmlns:p14="http://schemas.microsoft.com/office/powerpoint/2010/main" val="152886402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09DA42F-5777-49C3-BA4B-04B260451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3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8E5CED-2B05-4373-8221-A78F4871B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0"/>
            <a:ext cx="381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C4E8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8D96A8-FBDD-437D-A15C-188EBCC84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53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E63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2E63FF"/>
                </a:solidFill>
                <a:latin typeface="Helvetica Neue"/>
                <a:ea typeface="Helvetica Neue"/>
                <a:cs typeface="Helvetica Neue"/>
              </a:rPr>
              <a:t>03 / SOLUTION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E8FD01-12B3-4E4F-9D53-A19474354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0287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124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12442"/>
                </a:solidFill>
                <a:latin typeface="Helvetica Neue"/>
                <a:ea typeface="Helvetica Neue"/>
                <a:cs typeface="Helvetica Neue"/>
              </a:rPr>
              <a:t>我们如何改变这个场景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F36C03-53C6-4BEC-8519-D71A3C5EE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04950"/>
            <a:ext cx="990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C6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>
                <a:solidFill>
                  <a:srgbClr val="5C6B82"/>
                </a:solidFill>
                <a:latin typeface="Helvetica Neue"/>
                <a:ea typeface="Helvetica Neue"/>
                <a:cs typeface="Helvetica Neue"/>
              </a:rPr>
              <a:t>把故事从“问题存在”推进到“用户因此能完成什么”。 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FB58E8-DB2E-48BC-8EEC-822BE9EA3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38350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0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F94ED9-2774-4899-B8E4-F613CC10D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43200"/>
            <a:ext cx="2743200" cy="2076450"/>
          </a:xfrm>
          <a:prstGeom xmlns:a="http://schemas.openxmlformats.org/drawingml/2006/main" prst="roundRect">
            <a:avLst>
              <a:gd name="adj" fmla="val 3670"/>
            </a:avLst>
          </a:prstGeom>
          <a:solidFill xmlns:a="http://schemas.openxmlformats.org/drawingml/2006/main">
            <a:srgbClr val="F7F9FD"/>
          </a:solidFill>
          <a:ln xmlns:a="http://schemas.openxmlformats.org/drawingml/2006/main" w="7620">
            <a:solidFill>
              <a:srgbClr val="D9E2F0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2F836D-B4CD-40C9-AD8C-15451786F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0099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5C6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5C6B82"/>
                </a:solidFill>
                <a:latin typeface="Helvetica Neue"/>
                <a:ea typeface="Helvetica Neue"/>
                <a:cs typeface="Helvetica Neue"/>
              </a:rPr>
              <a:t>原来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AA3081-C466-480D-AAFC-7926EC816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429000"/>
            <a:ext cx="22479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124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112442"/>
                </a:solidFill>
                <a:latin typeface="Helvetica Neue"/>
                <a:ea typeface="Helvetica Neue"/>
                <a:cs typeface="Helvetica Neue"/>
              </a:rPr>
              <a:t>[用户当前的流程]</a:t>
            </a:r>
          </a:p>
          <a:p xmlns:a="http://schemas.openxmlformats.org/drawingml/2006/main">
            <a:pPr>
              <a:defRPr sz="1275">
                <a:solidFill>
                  <a:srgbClr val="1124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112442"/>
                </a:solidFill>
                <a:latin typeface="Helvetica Neue"/>
                <a:ea typeface="Helvetica Neue"/>
                <a:cs typeface="Helvetica Neue"/>
              </a:rPr>
              <a:t>[卡住、等待或无法判断的地方]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512C7B-E07C-448D-9FB1-8B1C2856A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743200"/>
            <a:ext cx="2743200" cy="2076450"/>
          </a:xfrm>
          <a:prstGeom xmlns:a="http://schemas.openxmlformats.org/drawingml/2006/main" prst="roundRect">
            <a:avLst>
              <a:gd name="adj" fmla="val 3670"/>
            </a:avLst>
          </a:prstGeom>
          <a:solidFill xmlns:a="http://schemas.openxmlformats.org/drawingml/2006/main">
            <a:srgbClr val="EAF0FF"/>
          </a:solidFill>
          <a:ln xmlns:a="http://schemas.openxmlformats.org/drawingml/2006/main" w="11430">
            <a:solidFill>
              <a:srgbClr val="2E63FF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3791EA-418B-4404-B932-18BF85775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0099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E63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2E63FF"/>
                </a:solidFill>
                <a:latin typeface="Helvetica Neue"/>
                <a:ea typeface="Helvetica Neue"/>
                <a:cs typeface="Helvetica Neue"/>
              </a:rPr>
              <a:t>我们的介入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4926A5-CF62-4D0E-BD13-30F0276EB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429000"/>
            <a:ext cx="22479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124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112442"/>
                </a:solidFill>
                <a:latin typeface="Helvetica Neue"/>
                <a:ea typeface="Helvetica Neue"/>
                <a:cs typeface="Helvetica Neue"/>
              </a:rPr>
              <a:t>[产品的核心动作]</a:t>
            </a:r>
          </a:p>
          <a:p xmlns:a="http://schemas.openxmlformats.org/drawingml/2006/main">
            <a:pPr>
              <a:defRPr sz="1275">
                <a:solidFill>
                  <a:srgbClr val="1124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112442"/>
                </a:solidFill>
                <a:latin typeface="Helvetica Neue"/>
                <a:ea typeface="Helvetica Neue"/>
                <a:cs typeface="Helvetica Neue"/>
              </a:rPr>
              <a:t>[模型、规则或交互如何介入]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369E90-9268-4AAD-AE06-FA7A4E417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743200"/>
            <a:ext cx="2743200" cy="2076450"/>
          </a:xfrm>
          <a:prstGeom xmlns:a="http://schemas.openxmlformats.org/drawingml/2006/main" prst="roundRect">
            <a:avLst>
              <a:gd name="adj" fmla="val 3670"/>
            </a:avLst>
          </a:prstGeom>
          <a:solidFill xmlns:a="http://schemas.openxmlformats.org/drawingml/2006/main">
            <a:srgbClr val="F7F9FD"/>
          </a:solidFill>
          <a:ln xmlns:a="http://schemas.openxmlformats.org/drawingml/2006/main" w="7620">
            <a:solidFill>
              <a:srgbClr val="D9E2F0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D028CC-675A-41A5-9198-E4BA2FC25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0099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5C6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5C6B82"/>
                </a:solidFill>
                <a:latin typeface="Helvetica Neue"/>
                <a:ea typeface="Helvetica Neue"/>
                <a:cs typeface="Helvetica Neue"/>
              </a:rPr>
              <a:t>现在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9ACC92-0189-462A-840F-2E477FB18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429000"/>
            <a:ext cx="22479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124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112442"/>
                </a:solidFill>
                <a:latin typeface="Helvetica Neue"/>
                <a:ea typeface="Helvetica Neue"/>
                <a:cs typeface="Helvetica Neue"/>
              </a:rPr>
              <a:t>[用户看到的可见变化]</a:t>
            </a:r>
          </a:p>
          <a:p xmlns:a="http://schemas.openxmlformats.org/drawingml/2006/main">
            <a:pPr>
              <a:defRPr sz="1275">
                <a:solidFill>
                  <a:srgbClr val="1124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112442"/>
                </a:solidFill>
                <a:latin typeface="Helvetica Neue"/>
                <a:ea typeface="Helvetica Neue"/>
                <a:cs typeface="Helvetica Neue"/>
              </a:rPr>
              <a:t>[更快、更准、更安心或更可控]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057F5A-CE9E-403B-B8C2-957E83C14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448300"/>
            <a:ext cx="838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7658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7658F7"/>
                </a:solidFill>
                <a:latin typeface="Helvetica Neue"/>
                <a:ea typeface="Helvetica Neue"/>
                <a:cs typeface="Helvetica Neue"/>
              </a:rPr>
              <a:t>核心不是功能清单，而是用户从起点走到结果的变化。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82BA8AA-F5A9-48CD-AC15-BF39EF4E4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438900"/>
            <a:ext cx="1095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8B99AD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>
                <a:solidFill>
                  <a:srgbClr val="8B99AD"/>
                </a:solidFill>
                <a:latin typeface="Helvetica Neue"/>
                <a:ea typeface="Helvetica Neue"/>
                <a:cs typeface="Helvetica Neue"/>
              </a:rPr>
              <a:t>04  /  09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2029558-62CE-4773-88FB-849DC73EE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6438900"/>
            <a:ext cx="219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8B99AD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>
                <a:solidFill>
                  <a:srgbClr val="8B99AD"/>
                </a:solidFill>
                <a:latin typeface="Helvetica Neue"/>
                <a:ea typeface="Helvetica Neue"/>
                <a:cs typeface="Helvetica Neue"/>
              </a:rPr>
              <a:t>解决方案  40 秒</a:t>
            </a:r>
          </a:p>
        </p:txBody>
      </p:sp>
    </p:spTree>
    <p:extLst>
      <p:ext uri="{BB962C8B-B14F-4D97-AF65-F5344CB8AC3E}">
        <p14:creationId xmlns:p14="http://schemas.microsoft.com/office/powerpoint/2010/main" val="52243304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6BDF9B-4767-4471-8E20-3161A5A13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3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ED6C5F-A239-421E-A930-F6938AD2D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0"/>
            <a:ext cx="381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C4E8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251703-BB8C-4278-B1E4-918B937AB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53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E63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2E63FF"/>
                </a:solidFill>
                <a:latin typeface="Helvetica Neue"/>
                <a:ea typeface="Helvetica Neue"/>
                <a:cs typeface="Helvetica Neue"/>
              </a:rPr>
              <a:t>04 / DEMO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1F9E79-997F-48EC-B071-BCD749EAA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0287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124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12442"/>
                </a:solidFill>
                <a:latin typeface="Helvetica Neue"/>
                <a:ea typeface="Helvetica Neue"/>
                <a:cs typeface="Helvetica Neue"/>
              </a:rPr>
              <a:t>让评委看到一个完整结果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6FC54F-0412-4236-91E8-70E9334B8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04950"/>
            <a:ext cx="990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C6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>
                <a:solidFill>
                  <a:srgbClr val="5C6B82"/>
                </a:solidFill>
                <a:latin typeface="Helvetica Neue"/>
                <a:ea typeface="Helvetica Neue"/>
                <a:cs typeface="Helvetica Neue"/>
              </a:rPr>
              <a:t>现场演示优先。若用视频，控制在 60 至 90 秒，并展示同一条核心路径。 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9E3296-FEAA-4487-82AF-0A0CA4DF0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38350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0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545DD3-64D8-4EB1-9DB2-74E22C604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476500"/>
            <a:ext cx="10229850" cy="2705100"/>
          </a:xfrm>
          <a:prstGeom xmlns:a="http://schemas.openxmlformats.org/drawingml/2006/main" prst="roundRect">
            <a:avLst>
              <a:gd name="adj" fmla="val 2817"/>
            </a:avLst>
          </a:prstGeom>
          <a:solidFill xmlns:a="http://schemas.openxmlformats.org/drawingml/2006/main">
            <a:srgbClr val="F3F6FB"/>
          </a:solidFill>
          <a:ln xmlns:a="http://schemas.openxmlformats.org/drawingml/2006/main" w="11430">
            <a:solidFill>
              <a:srgbClr val="D9E2F0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167CD3-7BFB-4ADA-A9C8-DFD5D6903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276600"/>
            <a:ext cx="876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8B99A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8B99AD"/>
                </a:solidFill>
                <a:latin typeface="Helvetica Neue"/>
                <a:ea typeface="Helvetica Neue"/>
                <a:cs typeface="Helvetica Neue"/>
              </a:rPr>
              <a:t>[在这里放入现场 Demo 截图、录屏封面或可播放视频]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2E7BA6-638E-485F-A884-F14A3AF79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790950"/>
            <a:ext cx="800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C6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>
                <a:solidFill>
                  <a:srgbClr val="5C6B82"/>
                </a:solidFill>
                <a:latin typeface="Helvetica Neue"/>
                <a:ea typeface="Helvetica Neue"/>
                <a:cs typeface="Helvetica Neue"/>
              </a:rPr>
              <a:t>展示一条用户旅程。不要在 Demo 里临时探索产品。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95AB11-BC00-458F-A294-03DE21304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543550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124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112442"/>
                </a:solidFill>
                <a:latin typeface="Helvetica Neue"/>
                <a:ea typeface="Helvetica Neue"/>
                <a:cs typeface="Helvetica Neue"/>
              </a:rPr>
              <a:t>1  用户进入</a:t>
            </a:r>
          </a:p>
          <a:p xmlns:a="http://schemas.openxmlformats.org/drawingml/2006/main">
            <a:pPr>
              <a:defRPr sz="1125" b="0">
                <a:solidFill>
                  <a:srgbClr val="1124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112442"/>
                </a:solidFill>
                <a:latin typeface="Helvetica Neue"/>
                <a:ea typeface="Helvetica Neue"/>
                <a:cs typeface="Helvetica Neue"/>
              </a:rPr>
              <a:t>[输入或触发]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95E3B8-E155-441B-8699-51A121C2E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543550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124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112442"/>
                </a:solidFill>
                <a:latin typeface="Helvetica Neue"/>
                <a:ea typeface="Helvetica Neue"/>
                <a:cs typeface="Helvetica Neue"/>
              </a:rPr>
              <a:t>2  核心动作</a:t>
            </a:r>
          </a:p>
          <a:p xmlns:a="http://schemas.openxmlformats.org/drawingml/2006/main">
            <a:pPr>
              <a:defRPr sz="1125" b="0">
                <a:solidFill>
                  <a:srgbClr val="1124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112442"/>
                </a:solidFill>
                <a:latin typeface="Helvetica Neue"/>
                <a:ea typeface="Helvetica Neue"/>
                <a:cs typeface="Helvetica Neue"/>
              </a:rPr>
              <a:t>[系统如何响应]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7F299B-80CF-4F91-870F-11EA701E7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543550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E63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E63FF"/>
                </a:solidFill>
                <a:latin typeface="Helvetica Neue"/>
                <a:ea typeface="Helvetica Neue"/>
                <a:cs typeface="Helvetica Neue"/>
              </a:rPr>
              <a:t>3  关键结果</a:t>
            </a:r>
          </a:p>
          <a:p xmlns:a="http://schemas.openxmlformats.org/drawingml/2006/main">
            <a:pPr>
              <a:defRPr sz="1125" b="1">
                <a:solidFill>
                  <a:srgbClr val="2E63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E63FF"/>
                </a:solidFill>
                <a:latin typeface="Helvetica Neue"/>
                <a:ea typeface="Helvetica Neue"/>
                <a:cs typeface="Helvetica Neue"/>
              </a:rPr>
              <a:t>[评委该看到什么]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1C2F26-DB23-4A81-887B-31B6B04C7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438900"/>
            <a:ext cx="1095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8B99AD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>
                <a:solidFill>
                  <a:srgbClr val="8B99AD"/>
                </a:solidFill>
                <a:latin typeface="Helvetica Neue"/>
                <a:ea typeface="Helvetica Neue"/>
                <a:cs typeface="Helvetica Neue"/>
              </a:rPr>
              <a:t>05  /  09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BAA213-1FD6-4282-98D5-021B96E6F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6438900"/>
            <a:ext cx="219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8B99AD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>
                <a:solidFill>
                  <a:srgbClr val="8B99AD"/>
                </a:solidFill>
                <a:latin typeface="Helvetica Neue"/>
                <a:ea typeface="Helvetica Neue"/>
                <a:cs typeface="Helvetica Neue"/>
              </a:rPr>
              <a:t>核心 Demo  90 秒</a:t>
            </a:r>
          </a:p>
        </p:txBody>
      </p:sp>
    </p:spTree>
    <p:extLst>
      <p:ext uri="{BB962C8B-B14F-4D97-AF65-F5344CB8AC3E}">
        <p14:creationId xmlns:p14="http://schemas.microsoft.com/office/powerpoint/2010/main" val="499264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B18E7CA-A73D-4397-AA2C-C561E8443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3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D7C6A8-705F-4A32-84BB-5C425B3ED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0"/>
            <a:ext cx="381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C4E8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198ADD-F898-49ED-9522-A3832C4FD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53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E63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2E63FF"/>
                </a:solidFill>
                <a:latin typeface="Helvetica Neue"/>
                <a:ea typeface="Helvetica Neue"/>
                <a:cs typeface="Helvetica Neue"/>
              </a:rPr>
              <a:t>05 / HOW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D8A26F-9F34-437F-93D1-E325EE643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0287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124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12442"/>
                </a:solidFill>
                <a:latin typeface="Helvetica Neue"/>
                <a:ea typeface="Helvetica Neue"/>
                <a:cs typeface="Helvetica Neue"/>
              </a:rPr>
              <a:t>我们如何实现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87263E-7129-4414-B818-514B13711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04950"/>
            <a:ext cx="990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C6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>
                <a:solidFill>
                  <a:srgbClr val="5C6B82"/>
                </a:solidFill>
                <a:latin typeface="Helvetica Neue"/>
                <a:ea typeface="Helvetica Neue"/>
                <a:cs typeface="Helvetica Neue"/>
              </a:rPr>
              <a:t>只解释支撑体验成立的技术选择。目标是建立可信度，不是复盘开发日记。 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760FA6-58C5-4F8E-8D29-0B73FA334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38350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0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954D0C-613E-455F-B06E-5229C482F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86050"/>
            <a:ext cx="27432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F0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1C6F72-FDAD-4927-8947-CD7CF32A0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9718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702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E63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2E63FF"/>
                </a:solidFill>
                <a:latin typeface="Helvetica Neue"/>
                <a:ea typeface="Helvetica Neue"/>
                <a:cs typeface="Helvetica Neue"/>
              </a:rPr>
              <a:t>输入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308706-E0B4-4A1E-AFCE-BEC7B0410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409950"/>
            <a:ext cx="2209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124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>
                <a:solidFill>
                  <a:srgbClr val="112442"/>
                </a:solidFill>
                <a:latin typeface="Helvetica Neue"/>
                <a:ea typeface="Helvetica Neue"/>
                <a:cs typeface="Helvetica Neue"/>
              </a:rPr>
              <a:t>[用户输入、传感器或数据源]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10DB75-2AD3-498B-A7A5-24C64D2F0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686050"/>
            <a:ext cx="27432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7658F7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44C183-5471-42D9-A4F3-7F2AD76C2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9718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702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658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7658F7"/>
                </a:solidFill>
                <a:latin typeface="Helvetica Neue"/>
                <a:ea typeface="Helvetica Neue"/>
                <a:cs typeface="Helvetica Neue"/>
              </a:rPr>
              <a:t>核心逻辑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819551-FDCE-4285-8940-28EAED781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409950"/>
            <a:ext cx="2209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124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>
                <a:solidFill>
                  <a:srgbClr val="112442"/>
                </a:solidFill>
                <a:latin typeface="Helvetica Neue"/>
                <a:ea typeface="Helvetica Neue"/>
                <a:cs typeface="Helvetica Neue"/>
              </a:rPr>
              <a:t>[模型、规则、工作流或 Agent]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5092BD-68F0-4223-8256-2ADCFFF08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686050"/>
            <a:ext cx="27432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F0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A37F91-A908-4B58-A417-239BDD8E8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9718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702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E63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2E63FF"/>
                </a:solidFill>
                <a:latin typeface="Helvetica Neue"/>
                <a:ea typeface="Helvetica Neue"/>
                <a:cs typeface="Helvetica Neue"/>
              </a:rPr>
              <a:t>可见结果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DCAFDF-EEA4-4EDE-84C8-F0B606201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409950"/>
            <a:ext cx="2209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124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>
                <a:solidFill>
                  <a:srgbClr val="112442"/>
                </a:solidFill>
                <a:latin typeface="Helvetica Neue"/>
                <a:ea typeface="Helvetica Neue"/>
                <a:cs typeface="Helvetica Neue"/>
              </a:rPr>
              <a:t>[界面、报告、行动建议或自动化]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712098-11CF-4999-B3AE-D63F2A602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390900"/>
            <a:ext cx="628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0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163E17-301D-4F36-B3E7-E411FA29B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390900"/>
            <a:ext cx="628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0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CEAB28F-60CB-4D66-B063-5A190991D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8577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C6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C6B82"/>
                </a:solidFill>
                <a:latin typeface="Helvetica Neue"/>
                <a:ea typeface="Helvetica Neue"/>
                <a:cs typeface="Helvetica Neue"/>
              </a:rPr>
              <a:t>技术依据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8D3475E-A735-4874-82DE-4E6EEBA1E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21970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124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112442"/>
                </a:solidFill>
                <a:latin typeface="Helvetica Neue"/>
                <a:ea typeface="Helvetica Neue"/>
                <a:cs typeface="Helvetica Neue"/>
              </a:rPr>
              <a:t>[使用的模型、框架、API、数据或硬件。只放最有说服力的 3 至 5 项。]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B81AF35-26D3-44CC-929B-23009C584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8293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>
              <a:defRPr sz="900" i="1">
                <a:solidFill>
                  <a:srgbClr val="8B99A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i="1">
                <a:solidFill>
                  <a:srgbClr val="8B99AD"/>
                </a:solidFill>
                <a:latin typeface="Helvetica Neue"/>
                <a:ea typeface="Helvetica Neue"/>
                <a:cs typeface="Helvetica Neue"/>
              </a:rPr>
              <a:t>如果某项技术无法让评委更相信 Demo，不必放在主路演中。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09D71B2-6306-48A4-8F2C-3DCB5E7A8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438900"/>
            <a:ext cx="1095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8B99AD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>
                <a:solidFill>
                  <a:srgbClr val="8B99AD"/>
                </a:solidFill>
                <a:latin typeface="Helvetica Neue"/>
                <a:ea typeface="Helvetica Neue"/>
                <a:cs typeface="Helvetica Neue"/>
              </a:rPr>
              <a:t>06  /  09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14A7D63-17E8-4A43-BCF4-0B0635DC8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6438900"/>
            <a:ext cx="219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8B99AD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>
                <a:solidFill>
                  <a:srgbClr val="8B99AD"/>
                </a:solidFill>
                <a:latin typeface="Helvetica Neue"/>
                <a:ea typeface="Helvetica Neue"/>
                <a:cs typeface="Helvetica Neue"/>
              </a:rPr>
              <a:t>技术可信度  40 秒</a:t>
            </a:r>
          </a:p>
        </p:txBody>
      </p:sp>
    </p:spTree>
    <p:extLst>
      <p:ext uri="{BB962C8B-B14F-4D97-AF65-F5344CB8AC3E}">
        <p14:creationId xmlns:p14="http://schemas.microsoft.com/office/powerpoint/2010/main" val="156313254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041594-8F05-425C-83AC-44DF3B617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3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6D814F-833A-41A0-B2C2-01A3660B0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0"/>
            <a:ext cx="381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C4E8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506DE2-4722-4975-997E-1C44B4BE9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53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E63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2E63FF"/>
                </a:solidFill>
                <a:latin typeface="Helvetica Neue"/>
                <a:ea typeface="Helvetica Neue"/>
                <a:cs typeface="Helvetica Neue"/>
              </a:rPr>
              <a:t>06 / PROOF &amp; NEXT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5E36CA-67D0-4F72-98CC-76B33DC2E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0287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124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12442"/>
                </a:solidFill>
                <a:latin typeface="Helvetica Neue"/>
                <a:ea typeface="Helvetica Neue"/>
                <a:cs typeface="Helvetica Neue"/>
              </a:rPr>
              <a:t>当前成果与下一步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5240F9-2789-486B-AC61-09F0E7C41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04950"/>
            <a:ext cx="990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C6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>
                <a:solidFill>
                  <a:srgbClr val="5C6B82"/>
                </a:solidFill>
                <a:latin typeface="Helvetica Neue"/>
                <a:ea typeface="Helvetica Neue"/>
                <a:cs typeface="Helvetica Neue"/>
              </a:rPr>
              <a:t>用“今天证明了什么”收尾，再说明下一步准备验证什么。 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635ADF-75C0-4126-85C2-F0466CCDA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38350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0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D54F97-3A66-48ED-9884-11CFB80CD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47950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848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E63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2E63FF"/>
                </a:solidFill>
                <a:latin typeface="Helvetica Neue"/>
                <a:ea typeface="Helvetica Neue"/>
                <a:cs typeface="Helvetica Neue"/>
              </a:rPr>
              <a:t>今天已证明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0C7ABF-175C-440B-A45D-A997F36D0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181350"/>
            <a:ext cx="37147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124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112442"/>
                </a:solidFill>
                <a:latin typeface="Helvetica Neue"/>
                <a:ea typeface="Helvetica Neue"/>
                <a:cs typeface="Helvetica Neue"/>
              </a:rPr>
              <a:t>[可运行的核心体验]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350">
                <a:solidFill>
                  <a:srgbClr val="1124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112442"/>
                </a:solidFill>
                <a:latin typeface="Helvetica Neue"/>
                <a:ea typeface="Helvetica Neue"/>
                <a:cs typeface="Helvetica Neue"/>
              </a:rPr>
              <a:t>[已解决的关键技术难点]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350">
                <a:solidFill>
                  <a:srgbClr val="1124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112442"/>
                </a:solidFill>
                <a:latin typeface="Helvetica Neue"/>
                <a:ea typeface="Helvetica Neue"/>
                <a:cs typeface="Helvetica Neue"/>
              </a:rPr>
              <a:t>[Demo、测试或早期反馈证据]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27216F-28CE-4B4D-8CC1-7536ABE11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476500"/>
            <a:ext cx="9525" cy="2800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0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0FB34C-6F47-402B-A17E-5814559DC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647950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848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7658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7658F7"/>
                </a:solidFill>
                <a:latin typeface="Helvetica Neue"/>
                <a:ea typeface="Helvetica Neue"/>
                <a:cs typeface="Helvetica Neue"/>
              </a:rPr>
              <a:t>下一步验证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AB5426-C2CD-4153-AE1A-0D7B281E4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181350"/>
            <a:ext cx="37147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124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112442"/>
                </a:solidFill>
                <a:latin typeface="Helvetica Neue"/>
                <a:ea typeface="Helvetica Neue"/>
                <a:cs typeface="Helvetica Neue"/>
              </a:rPr>
              <a:t>[要找谁验证]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350">
                <a:solidFill>
                  <a:srgbClr val="1124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112442"/>
                </a:solidFill>
                <a:latin typeface="Helvetica Neue"/>
                <a:ea typeface="Helvetica Neue"/>
                <a:cs typeface="Helvetica Neue"/>
              </a:rPr>
              <a:t>[要衡量什么结果]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350">
                <a:solidFill>
                  <a:srgbClr val="1124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112442"/>
                </a:solidFill>
                <a:latin typeface="Helvetica Neue"/>
                <a:ea typeface="Helvetica Neue"/>
                <a:cs typeface="Helvetica Neue"/>
              </a:rPr>
              <a:t>[下一轮要扩大或完善什么]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A99CC9-A88B-45D2-937C-898A7786C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543550"/>
            <a:ext cx="97155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EF3FC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96DB46-93C6-4B0A-A481-109116362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667375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588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124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12442"/>
                </a:solidFill>
                <a:latin typeface="Helvetica Neue"/>
                <a:ea typeface="Helvetica Neue"/>
                <a:cs typeface="Helvetica Neue"/>
              </a:rPr>
              <a:t>[收尾一句话：我们希望让 _______ 从 _______ 变成 _______。]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25744B-8920-4F69-A08D-27542C1F1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438900"/>
            <a:ext cx="1095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8B99AD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>
                <a:solidFill>
                  <a:srgbClr val="8B99AD"/>
                </a:solidFill>
                <a:latin typeface="Helvetica Neue"/>
                <a:ea typeface="Helvetica Neue"/>
                <a:cs typeface="Helvetica Neue"/>
              </a:rPr>
              <a:t>07  /  09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B980C8-6EB8-4DBC-9F16-733EBC49F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6438900"/>
            <a:ext cx="219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8B99AD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>
                <a:solidFill>
                  <a:srgbClr val="8B99AD"/>
                </a:solidFill>
                <a:latin typeface="Helvetica Neue"/>
                <a:ea typeface="Helvetica Neue"/>
                <a:cs typeface="Helvetica Neue"/>
              </a:rPr>
              <a:t>收尾  25 秒</a:t>
            </a:r>
          </a:p>
        </p:txBody>
      </p:sp>
    </p:spTree>
    <p:extLst>
      <p:ext uri="{BB962C8B-B14F-4D97-AF65-F5344CB8AC3E}">
        <p14:creationId xmlns:p14="http://schemas.microsoft.com/office/powerpoint/2010/main" val="59147340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764F5FF-25D0-422C-BE97-BFA51D7F5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3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D80371-956F-4BDD-8DC2-A53FCF61C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0"/>
            <a:ext cx="381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C4E8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3B6518-6545-4587-B826-3B6477AD4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53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E63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2E63FF"/>
                </a:solidFill>
                <a:latin typeface="Helvetica Neue"/>
                <a:ea typeface="Helvetica Neue"/>
                <a:cs typeface="Helvetica Neue"/>
              </a:rPr>
              <a:t>APPENDIX / Q&amp;A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853397-42AA-40F7-B7F2-EE0F3E45D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0287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124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12442"/>
                </a:solidFill>
                <a:latin typeface="Helvetica Neue"/>
                <a:ea typeface="Helvetica Neue"/>
                <a:cs typeface="Helvetica Neue"/>
              </a:rPr>
              <a:t>备用页：系统架构与关键选择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5E7D16-982B-438E-804D-7D42A682A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04950"/>
            <a:ext cx="990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C6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>
                <a:solidFill>
                  <a:srgbClr val="5C6B82"/>
                </a:solidFill>
                <a:latin typeface="Helvetica Neue"/>
                <a:ea typeface="Helvetica Neue"/>
                <a:cs typeface="Helvetica Neue"/>
              </a:rPr>
              <a:t>只在评委追问技术时使用。主路演不必翻到这里。 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A64238-F0FC-4C18-821E-0DE1E43BC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38350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0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B6F3ED-3E98-4343-8DAB-0577B8C12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67000"/>
            <a:ext cx="2362200" cy="1733550"/>
          </a:xfrm>
          <a:prstGeom xmlns:a="http://schemas.openxmlformats.org/drawingml/2006/main" prst="roundRect">
            <a:avLst>
              <a:gd name="adj" fmla="val 4396"/>
            </a:avLst>
          </a:prstGeom>
          <a:solidFill xmlns:a="http://schemas.openxmlformats.org/drawingml/2006/main">
            <a:srgbClr val="F7F9FD"/>
          </a:solidFill>
          <a:ln xmlns:a="http://schemas.openxmlformats.org/drawingml/2006/main" w="9525">
            <a:solidFill>
              <a:srgbClr val="D9E2F0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BD0DB7-8E23-4A80-A69C-46FE43FB4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952750"/>
            <a:ext cx="1943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1296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E63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E63FF"/>
                </a:solidFill>
                <a:latin typeface="Helvetica Neue"/>
                <a:ea typeface="Helvetica Neue"/>
                <a:cs typeface="Helvetica Neue"/>
              </a:rPr>
              <a:t>数据与输入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8E6664-42F4-4681-9804-B9DE68A79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409950"/>
            <a:ext cx="1924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124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>
                <a:solidFill>
                  <a:srgbClr val="112442"/>
                </a:solidFill>
                <a:latin typeface="Helvetica Neue"/>
                <a:ea typeface="Helvetica Neue"/>
                <a:cs typeface="Helvetica Neue"/>
              </a:rPr>
              <a:t>[组件或服务]</a:t>
            </a:r>
          </a:p>
          <a:p xmlns:a="http://schemas.openxmlformats.org/drawingml/2006/main">
            <a:pPr>
              <a:defRPr sz="1125">
                <a:solidFill>
                  <a:srgbClr val="1124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>
                <a:solidFill>
                  <a:srgbClr val="112442"/>
                </a:solidFill>
                <a:latin typeface="Helvetica Neue"/>
                <a:ea typeface="Helvetica Neue"/>
                <a:cs typeface="Helvetica Neue"/>
              </a:rPr>
              <a:t>[为什么选它]</a:t>
            </a:r>
          </a:p>
          <a:p xmlns:a="http://schemas.openxmlformats.org/drawingml/2006/main">
            <a:pPr>
              <a:defRPr sz="1125">
                <a:solidFill>
                  <a:srgbClr val="1124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>
                <a:solidFill>
                  <a:srgbClr val="112442"/>
                </a:solidFill>
                <a:latin typeface="Helvetica Neue"/>
                <a:ea typeface="Helvetica Neue"/>
                <a:cs typeface="Helvetica Neue"/>
              </a:rPr>
              <a:t>[如何保证可用]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8B9448-469D-470A-AAD7-0D5622F1A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2667000"/>
            <a:ext cx="2362200" cy="1733550"/>
          </a:xfrm>
          <a:prstGeom xmlns:a="http://schemas.openxmlformats.org/drawingml/2006/main" prst="roundRect">
            <a:avLst>
              <a:gd name="adj" fmla="val 4396"/>
            </a:avLst>
          </a:prstGeom>
          <a:solidFill xmlns:a="http://schemas.openxmlformats.org/drawingml/2006/main">
            <a:srgbClr val="F7F9FD"/>
          </a:solidFill>
          <a:ln xmlns:a="http://schemas.openxmlformats.org/drawingml/2006/main" w="9525">
            <a:solidFill>
              <a:srgbClr val="D9E2F0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0DBC0B-E3CF-4F53-93DC-D05BB05B1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2952750"/>
            <a:ext cx="1943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1296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E63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E63FF"/>
                </a:solidFill>
                <a:latin typeface="Helvetica Neue"/>
                <a:ea typeface="Helvetica Neue"/>
                <a:cs typeface="Helvetica Neue"/>
              </a:rPr>
              <a:t>处理与决策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77543C-2610-4773-8866-1F73FE399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3409950"/>
            <a:ext cx="1924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124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>
                <a:solidFill>
                  <a:srgbClr val="112442"/>
                </a:solidFill>
                <a:latin typeface="Helvetica Neue"/>
                <a:ea typeface="Helvetica Neue"/>
                <a:cs typeface="Helvetica Neue"/>
              </a:rPr>
              <a:t>[组件或服务]</a:t>
            </a:r>
          </a:p>
          <a:p xmlns:a="http://schemas.openxmlformats.org/drawingml/2006/main">
            <a:pPr>
              <a:defRPr sz="1125">
                <a:solidFill>
                  <a:srgbClr val="1124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>
                <a:solidFill>
                  <a:srgbClr val="112442"/>
                </a:solidFill>
                <a:latin typeface="Helvetica Neue"/>
                <a:ea typeface="Helvetica Neue"/>
                <a:cs typeface="Helvetica Neue"/>
              </a:rPr>
              <a:t>[为什么选它]</a:t>
            </a:r>
          </a:p>
          <a:p xmlns:a="http://schemas.openxmlformats.org/drawingml/2006/main">
            <a:pPr>
              <a:defRPr sz="1125">
                <a:solidFill>
                  <a:srgbClr val="1124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>
                <a:solidFill>
                  <a:srgbClr val="112442"/>
                </a:solidFill>
                <a:latin typeface="Helvetica Neue"/>
                <a:ea typeface="Helvetica Neue"/>
                <a:cs typeface="Helvetica Neue"/>
              </a:rPr>
              <a:t>[如何保证可用]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AFD3D3-8389-47CC-9E91-4CC82DCD0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667000"/>
            <a:ext cx="2362200" cy="1733550"/>
          </a:xfrm>
          <a:prstGeom xmlns:a="http://schemas.openxmlformats.org/drawingml/2006/main" prst="roundRect">
            <a:avLst>
              <a:gd name="adj" fmla="val 4396"/>
            </a:avLst>
          </a:prstGeom>
          <a:solidFill xmlns:a="http://schemas.openxmlformats.org/drawingml/2006/main">
            <a:srgbClr val="F7F9FD"/>
          </a:solidFill>
          <a:ln xmlns:a="http://schemas.openxmlformats.org/drawingml/2006/main" w="9525">
            <a:solidFill>
              <a:srgbClr val="D9E2F0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5E81A7-18B2-4227-AE02-764D42B5F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952750"/>
            <a:ext cx="1943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1296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E63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E63FF"/>
                </a:solidFill>
                <a:latin typeface="Helvetica Neue"/>
                <a:ea typeface="Helvetica Neue"/>
                <a:cs typeface="Helvetica Neue"/>
              </a:rPr>
              <a:t>界面与交付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C1955D-2806-47C0-95E0-DDA2B7AE3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409950"/>
            <a:ext cx="1924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124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>
                <a:solidFill>
                  <a:srgbClr val="112442"/>
                </a:solidFill>
                <a:latin typeface="Helvetica Neue"/>
                <a:ea typeface="Helvetica Neue"/>
                <a:cs typeface="Helvetica Neue"/>
              </a:rPr>
              <a:t>[组件或服务]</a:t>
            </a:r>
          </a:p>
          <a:p xmlns:a="http://schemas.openxmlformats.org/drawingml/2006/main">
            <a:pPr>
              <a:defRPr sz="1125">
                <a:solidFill>
                  <a:srgbClr val="1124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>
                <a:solidFill>
                  <a:srgbClr val="112442"/>
                </a:solidFill>
                <a:latin typeface="Helvetica Neue"/>
                <a:ea typeface="Helvetica Neue"/>
                <a:cs typeface="Helvetica Neue"/>
              </a:rPr>
              <a:t>[为什么选它]</a:t>
            </a:r>
          </a:p>
          <a:p xmlns:a="http://schemas.openxmlformats.org/drawingml/2006/main">
            <a:pPr>
              <a:defRPr sz="1125">
                <a:solidFill>
                  <a:srgbClr val="1124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>
                <a:solidFill>
                  <a:srgbClr val="112442"/>
                </a:solidFill>
                <a:latin typeface="Helvetica Neue"/>
                <a:ea typeface="Helvetica Neue"/>
                <a:cs typeface="Helvetica Neue"/>
              </a:rPr>
              <a:t>[如何保证可用]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15C015-F752-4F6A-AE41-46404B32F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524250"/>
            <a:ext cx="6953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0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27C41E-D5AF-4DB5-A804-5A5CD2D55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3524250"/>
            <a:ext cx="6953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0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A9113B6-E1FA-46D5-AF4C-98D690C79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334000"/>
            <a:ext cx="933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C6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5C6B82"/>
                </a:solidFill>
                <a:latin typeface="Helvetica Neue"/>
                <a:ea typeface="Helvetica Neue"/>
                <a:cs typeface="Helvetica Neue"/>
              </a:rPr>
              <a:t>可追问：模型准确性、延迟、成本、数据安全、失败时的降级方案。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D926628-BB71-4007-9D19-C16A3BC01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438900"/>
            <a:ext cx="1095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8B99AD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>
                <a:solidFill>
                  <a:srgbClr val="8B99AD"/>
                </a:solidFill>
                <a:latin typeface="Helvetica Neue"/>
                <a:ea typeface="Helvetica Neue"/>
                <a:cs typeface="Helvetica Neue"/>
              </a:rPr>
              <a:t>08  /  09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A8DE0A0-F8A5-449B-8FF1-B9B73CF9C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6438900"/>
            <a:ext cx="219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8B99AD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>
                <a:solidFill>
                  <a:srgbClr val="8B99AD"/>
                </a:solidFill>
                <a:latin typeface="Helvetica Neue"/>
                <a:ea typeface="Helvetica Neue"/>
                <a:cs typeface="Helvetica Neue"/>
              </a:rPr>
              <a:t>Q&amp;A 备用页</a:t>
            </a:r>
          </a:p>
        </p:txBody>
      </p:sp>
    </p:spTree>
    <p:extLst>
      <p:ext uri="{BB962C8B-B14F-4D97-AF65-F5344CB8AC3E}">
        <p14:creationId xmlns:p14="http://schemas.microsoft.com/office/powerpoint/2010/main" val="64715025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29B4710-F1B5-4F86-90F3-8787313EC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3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AF3C76-A69E-48CF-8BD9-E3AA13665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0"/>
            <a:ext cx="381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C4E8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B4B600-8E55-4EC4-898A-1AF705BF6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53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E63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2E63FF"/>
                </a:solidFill>
                <a:latin typeface="Helvetica Neue"/>
                <a:ea typeface="Helvetica Neue"/>
                <a:cs typeface="Helvetica Neue"/>
              </a:rPr>
              <a:t>APPENDIX / Q&amp;A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6385EE-2588-4A85-A662-183C081C9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0287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124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12442"/>
                </a:solidFill>
                <a:latin typeface="Helvetica Neue"/>
                <a:ea typeface="Helvetica Neue"/>
                <a:cs typeface="Helvetica Neue"/>
              </a:rPr>
              <a:t>备用页：数据、风险与验证计划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A1EB98-EE1B-41E9-9923-D1AA23546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04950"/>
            <a:ext cx="990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C6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>
                <a:solidFill>
                  <a:srgbClr val="5C6B82"/>
                </a:solidFill>
                <a:latin typeface="Helvetica Neue"/>
                <a:ea typeface="Helvetica Neue"/>
                <a:cs typeface="Helvetica Neue"/>
              </a:rPr>
              <a:t>把最容易被追问的边界提前想清楚。 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61B560-CF84-4019-9C12-9D2670C49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38350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0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C31D47-CB6D-4FF6-A6F0-A08ECE637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09850"/>
            <a:ext cx="97155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7F9FD"/>
          </a:solidFill>
          <a:ln xmlns:a="http://schemas.openxmlformats.org/drawingml/2006/main" w="7620">
            <a:solidFill>
              <a:srgbClr val="D9E2F0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6A27FC-1C56-430F-99B3-D7B763AF0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8194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392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E63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2E63FF"/>
                </a:solidFill>
                <a:latin typeface="Helvetica Neue"/>
                <a:ea typeface="Helvetica Neue"/>
                <a:cs typeface="Helvetica Neue"/>
              </a:rPr>
              <a:t>数据与隐私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486D8C-FEFE-4432-BBB4-A4EB5E659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800350"/>
            <a:ext cx="695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24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112442"/>
                </a:solidFill>
                <a:latin typeface="Helvetica Neue"/>
                <a:ea typeface="Helvetica Neue"/>
                <a:cs typeface="Helvetica Neue"/>
              </a:rPr>
              <a:t>[数据来自哪里？是否已脱敏？用户是否知情？]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A13F14-1201-4210-953E-8AAA2F32E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00450"/>
            <a:ext cx="97155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6F4FF"/>
          </a:solidFill>
          <a:ln xmlns:a="http://schemas.openxmlformats.org/drawingml/2006/main" w="7620">
            <a:solidFill>
              <a:srgbClr val="D9E2F0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E462B2-B242-494A-9078-FC6C892FB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8100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392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7658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7658F7"/>
                </a:solidFill>
                <a:latin typeface="Helvetica Neue"/>
                <a:ea typeface="Helvetica Neue"/>
                <a:cs typeface="Helvetica Neue"/>
              </a:rPr>
              <a:t>效果与边界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B75152-EB65-4C07-B8A8-2C365C3B4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790950"/>
            <a:ext cx="695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24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112442"/>
                </a:solidFill>
                <a:latin typeface="Helvetica Neue"/>
                <a:ea typeface="Helvetica Neue"/>
                <a:cs typeface="Helvetica Neue"/>
              </a:rPr>
              <a:t>[什么情况下有效？什么情况下不承诺？]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8808EB-AA02-42DE-9478-954A96BE0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591050"/>
            <a:ext cx="97155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7F9FD"/>
          </a:solidFill>
          <a:ln xmlns:a="http://schemas.openxmlformats.org/drawingml/2006/main" w="7620">
            <a:solidFill>
              <a:srgbClr val="D9E2F0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49C973-769C-47B1-8ACE-E0F74CB8A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8006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392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E63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2E63FF"/>
                </a:solidFill>
                <a:latin typeface="Helvetica Neue"/>
                <a:ea typeface="Helvetica Neue"/>
                <a:cs typeface="Helvetica Neue"/>
              </a:rPr>
              <a:t>验证计划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B9C6D4-13B8-43C9-8559-41D487420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781550"/>
            <a:ext cx="695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24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112442"/>
                </a:solidFill>
                <a:latin typeface="Helvetica Neue"/>
                <a:ea typeface="Helvetica Neue"/>
                <a:cs typeface="Helvetica Neue"/>
              </a:rPr>
              <a:t>[找谁测试？看哪个指标？何时判断方向对不对？]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7C32A6-1909-4969-9AE8-24CAA7164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9055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722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124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2442"/>
                </a:solidFill>
                <a:latin typeface="Helvetica Neue"/>
                <a:ea typeface="Helvetica Neue"/>
                <a:cs typeface="Helvetica Neue"/>
              </a:rPr>
              <a:t>谢谢。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AE5F87-0D7D-4C8C-9659-C70230DD6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438900"/>
            <a:ext cx="1095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8B99AD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>
                <a:solidFill>
                  <a:srgbClr val="8B99AD"/>
                </a:solidFill>
                <a:latin typeface="Helvetica Neue"/>
                <a:ea typeface="Helvetica Neue"/>
                <a:cs typeface="Helvetica Neue"/>
              </a:rPr>
              <a:t>09  /  09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EBEFF16-F706-4074-9922-4D09A79D9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6438900"/>
            <a:ext cx="219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8B99AD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>
                <a:solidFill>
                  <a:srgbClr val="8B99AD"/>
                </a:solidFill>
                <a:latin typeface="Helvetica Neue"/>
                <a:ea typeface="Helvetica Neue"/>
                <a:cs typeface="Helvetica Neue"/>
              </a:rPr>
              <a:t>Q&amp;A 备用页</a:t>
            </a:r>
          </a:p>
        </p:txBody>
      </p:sp>
    </p:spTree>
    <p:extLst>
      <p:ext uri="{BB962C8B-B14F-4D97-AF65-F5344CB8AC3E}">
        <p14:creationId xmlns:p14="http://schemas.microsoft.com/office/powerpoint/2010/main" val="30236139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2026-09-22T10:52:55.8070000Z</dcterms:created>
  <dcterms:modified xsi:type="dcterms:W3CDTF">2026-09-22T10:52:55.8070000Z</dcterms:modified>
</coreProperties>
</file>